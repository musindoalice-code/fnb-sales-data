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  <p:bold r:id="rId14"/>
      <p:italic r:id="rId15"/>
    </p:embeddedFont>
    <p:embeddedFont>
      <p:font typeface="Roboto Bold" panose="02000000000000000000" charset="0"/>
      <p:regular r:id="rId16"/>
    </p:embeddedFont>
    <p:embeddedFont>
      <p:font typeface="Roboto Slab" panose="020F0502020204030204" pitchFamily="2" charset="0"/>
      <p:regular r:id="rId17"/>
    </p:embeddedFont>
    <p:embeddedFont>
      <p:font typeface="Roboto Slab Light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212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51508"/>
            <a:ext cx="2325232" cy="287139"/>
          </a:xfrm>
          <a:prstGeom prst="roundRect">
            <a:avLst>
              <a:gd name="adj" fmla="val 7899"/>
            </a:avLst>
          </a:prstGeom>
          <a:solidFill>
            <a:srgbClr val="0825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79" y="1019473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008162"/>
            <a:ext cx="248120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ANALYST PORTFOLIO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3142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Scale Without Profit: A Retail Sales Case Study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218836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analytical deep-dive into 1,053 days of daily trading data for a single retail product — uncovering the structural gap between volume and profitability, and the hidden cost of promotional pricing.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053060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25350" y="3338314"/>
            <a:ext cx="5476043" cy="2053034"/>
          </a:xfrm>
          <a:prstGeom prst="roundRect">
            <a:avLst>
              <a:gd name="adj" fmla="val 1381"/>
            </a:avLst>
          </a:prstGeom>
          <a:solidFill>
            <a:srgbClr val="599CE8"/>
          </a:solidFill>
          <a:ln/>
        </p:spPr>
      </p:sp>
      <p:sp>
        <p:nvSpPr>
          <p:cNvPr id="9" name="Text 6"/>
          <p:cNvSpPr/>
          <p:nvPr/>
        </p:nvSpPr>
        <p:spPr>
          <a:xfrm>
            <a:off x="714357" y="352732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Scope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14357" y="4011613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Dec 2013 – 16 Nov 2016 · 1,053 daily records · One product · Fields: Date, Sales, Cost of Sales, Quantity Sold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32776" y="352732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Business Question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32776" y="4011613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product generates substantial sales volume — but do the economics work? This analysis develops key metrics, identifies promotional behaviour, and surfaces the structural pricing challenge.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56682" y="560397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 · CONFIDENTIAL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9898"/>
            <a:ext cx="1532792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652363"/>
            <a:ext cx="197232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KPI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6766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R186.9m in Sales. R7.1m in Losses. Demand Is Not the Problem.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470124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the full observation period, customers purchased 5.28 million units and generated R186.9m in revenue. Yet cost of sales exceeded revenue by R7.1m — a structural economics problem, not a demand problem.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32474" y="2057400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R186.9m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661475" y="2675731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2960886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 value of all sales across 1,053 trading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33223" y="2057400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R194.0m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162223" y="2675731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Cost of Sales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2223" y="2960886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 revenue — the core structural issue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32474" y="3442791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5.28m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661475" y="4061123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Units Sold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1475" y="4346277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quantity across the full period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3223" y="3442791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-R7.1m</a:t>
            </a:r>
            <a:endParaRPr lang="en-US" sz="3650" dirty="0"/>
          </a:p>
        </p:txBody>
      </p:sp>
      <p:sp>
        <p:nvSpPr>
          <p:cNvPr id="16" name="Text 14"/>
          <p:cNvSpPr/>
          <p:nvPr/>
        </p:nvSpPr>
        <p:spPr>
          <a:xfrm>
            <a:off x="6162223" y="4061123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Gross Profit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62223" y="4346277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gross margin of </a:t>
            </a:r>
            <a:r>
              <a:rPr 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-3.81%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32474" y="4828183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R35.40</a:t>
            </a:r>
            <a:endParaRPr lang="en-US" sz="3650" dirty="0"/>
          </a:p>
        </p:txBody>
      </p:sp>
      <p:sp>
        <p:nvSpPr>
          <p:cNvPr id="19" name="Text 17"/>
          <p:cNvSpPr/>
          <p:nvPr/>
        </p:nvSpPr>
        <p:spPr>
          <a:xfrm>
            <a:off x="661475" y="5446514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 Unit Price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475" y="5731669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Weighted average unit sales price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3223" y="4828183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5,014</a:t>
            </a:r>
            <a:endParaRPr lang="en-US" sz="3650" dirty="0"/>
          </a:p>
        </p:txBody>
      </p:sp>
      <p:sp>
        <p:nvSpPr>
          <p:cNvPr id="22" name="Text 20"/>
          <p:cNvSpPr/>
          <p:nvPr/>
        </p:nvSpPr>
        <p:spPr>
          <a:xfrm>
            <a:off x="6162223" y="5446514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 Daily Units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62223" y="5731669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daily quantity sold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82" y="6049665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96752"/>
            <a:ext cx="1523267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1039217"/>
            <a:ext cx="196279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VS COST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254522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 of Sales Consistently Outpaces Revenue — Every Single Year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76537"/>
            <a:ext cx="3946029" cy="2840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75131" y="1963241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Gap That Matters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75131" y="2290961"/>
            <a:ext cx="5261439" cy="6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every year on record, cost of sales exceeds revenue. The gap is not a rounding error — it is a structural feature of the product's pricing model.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56088"/>
            <a:ext cx="3552042" cy="8050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8403" y="5216823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2014 — Highest Volume Year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8403" y="5501977"/>
            <a:ext cx="315438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R75.4m sales vs R77.7m cost · Loss: </a:t>
            </a:r>
            <a:r>
              <a:rPr lang="en-US" sz="1100" b="1" dirty="0">
                <a:solidFill>
                  <a:srgbClr val="599CE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-R2.27m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9777" y="5056088"/>
            <a:ext cx="3552042" cy="8050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56706" y="5216823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2015 — Worst Margin Year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556706" y="5501977"/>
            <a:ext cx="315438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R64.0m sales vs R67.9m cost · Loss: </a:t>
            </a:r>
            <a:r>
              <a:rPr lang="en-US" sz="1100" b="1" dirty="0">
                <a:solidFill>
                  <a:srgbClr val="599CE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-R3.90m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8079" y="5056088"/>
            <a:ext cx="3552042" cy="8050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15008" y="5216823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2016 — Improving, Not Fixed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215008" y="5501977"/>
            <a:ext cx="315438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R47.0m sales vs R47.9m cost · Loss: </a:t>
            </a:r>
            <a:r>
              <a:rPr lang="en-US" sz="1100" b="1" dirty="0">
                <a:solidFill>
                  <a:srgbClr val="599CE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-R0.94m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98848"/>
            <a:ext cx="1329498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5093" y="1135658"/>
            <a:ext cx="1791846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ANNUAL TREND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317327"/>
            <a:ext cx="10868745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Higher Prices in 2015 Produced the Worst Margin — Volume Alone Doesn't Save You Either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94830"/>
            <a:ext cx="3434867" cy="24727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2014" y="2284809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Annual Unit Price vs Gross Margin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014" y="2566591"/>
            <a:ext cx="3434867" cy="24727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52014" y="5129113"/>
            <a:ext cx="5284556" cy="558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2015 had the </a:t>
            </a:r>
            <a:r>
              <a:rPr lang="en-US" sz="9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highest unit price (R37.33)</a:t>
            </a: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yet the </a:t>
            </a:r>
            <a:r>
              <a:rPr lang="en-US" sz="9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worst gross margin (-6.09%)</a:t>
            </a: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the largest annual loss (-R3.90m). Higher price alone does not guarantee profitability.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5631"/>
            <a:ext cx="1131165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650974"/>
            <a:ext cx="15593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EXTREMES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83642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Best and Worst Days Tell the Full Story of Price-Cost Risk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661475" y="2009973"/>
            <a:ext cx="3542219" cy="3011884"/>
          </a:xfrm>
          <a:prstGeom prst="roundRect">
            <a:avLst>
              <a:gd name="adj" fmla="val 753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812680" y="2161183"/>
            <a:ext cx="3239808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📈</a:t>
            </a: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Highest Sales Day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2680" y="2476302"/>
            <a:ext cx="3239808" cy="2394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March 2014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Sales: R846,678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Units: 26,410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Price: R32.06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Gross Profit: -R25,403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Margin: -3.00%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biggest revenue day was also a significant loss day — high volume at a low price amplified the cost gap.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4639" y="2009973"/>
            <a:ext cx="3542318" cy="3011884"/>
          </a:xfrm>
          <a:prstGeom prst="roundRect">
            <a:avLst>
              <a:gd name="adj" fmla="val 753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4475844" y="2161183"/>
            <a:ext cx="3239907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Best Margin Day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75844" y="2476302"/>
            <a:ext cx="3239907" cy="2394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11 July 2016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Sales: R45,839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Units: 1,090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Price: R42.05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Gross Profit: +R6,608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Margin: +14.42%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only clearly profitable day on record — achieved at a higher unit price with lower volume.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87902" y="2009973"/>
            <a:ext cx="3542318" cy="3011884"/>
          </a:xfrm>
          <a:prstGeom prst="roundRect">
            <a:avLst>
              <a:gd name="adj" fmla="val 753"/>
            </a:avLst>
          </a:prstGeom>
          <a:solidFill>
            <a:srgbClr val="3F4652"/>
          </a:solidFill>
          <a:ln/>
        </p:spPr>
      </p:sp>
      <p:sp>
        <p:nvSpPr>
          <p:cNvPr id="12" name="Text 10"/>
          <p:cNvSpPr/>
          <p:nvPr/>
        </p:nvSpPr>
        <p:spPr>
          <a:xfrm>
            <a:off x="8139107" y="2161183"/>
            <a:ext cx="3239907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📉</a:t>
            </a: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Worst Margin Day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39107" y="2476302"/>
            <a:ext cx="3239907" cy="2394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29 November 2015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Sales: R238,638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Units: 7,139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Price: R33.43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Gross Profit: -R35,456</a:t>
            </a:r>
            <a:endParaRPr lang="en-US" sz="1150" dirty="0"/>
          </a:p>
          <a:p>
            <a:pPr marL="0" indent="0" algn="l">
              <a:lnSpc>
                <a:spcPct val="120000"/>
              </a:lnSpc>
              <a:spcAft>
                <a:spcPts val="5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Margin: -14.86%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worst margin day occurred in 2015 — the same year with the highest annual unit price, confirming intra-year pricing volatility.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1475" y="5157887"/>
            <a:ext cx="10868745" cy="740767"/>
          </a:xfrm>
          <a:prstGeom prst="roundRect">
            <a:avLst>
              <a:gd name="adj" fmla="val 3062"/>
            </a:avLst>
          </a:prstGeom>
          <a:solidFill>
            <a:srgbClr val="0D3E73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0" y="5330329"/>
            <a:ext cx="189007" cy="15120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52893" y="5316637"/>
            <a:ext cx="1022612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contrast between the best margin day (R42.05/unit, +14.42%) and the worst (R33.43/unit, -14.86%) suggests a viable price zone exists — the challenge is sustaining it at scale.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56682" y="6034683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4107"/>
            <a:ext cx="1427524" cy="183654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4002" y="670322"/>
            <a:ext cx="1892054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PROMOTION 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48618"/>
            <a:ext cx="10868745" cy="75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Promotion Periods Are Analytically Identified — Not Confirmed in the Source Data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61475" y="1797546"/>
            <a:ext cx="52868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063849"/>
            <a:ext cx="5286838" cy="1021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source dataset does </a:t>
            </a:r>
            <a:r>
              <a:rPr lang="en-US" sz="9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</a:t>
            </a: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contain an explicit promotion flag. To fulfil the case study objective, three candidate promotional periods were identified analytically — defined as seven-day windows showing some of the largest sustained price reductions versus the immediately preceding seven days.</a:t>
            </a:r>
            <a:endParaRPr lang="en-US" sz="9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are labelled </a:t>
            </a:r>
            <a:r>
              <a:rPr lang="en-US" sz="9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"analytically identified promotion candidates"</a:t>
            </a: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throughout this analysis. They represent an analytical hypothesis, not causal proof of a promotion event.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3162598"/>
            <a:ext cx="52868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Elasticity Method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1475" y="3428901"/>
            <a:ext cx="589642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arc-style Price Elasticity of Demand was applied: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733701"/>
            <a:ext cx="5286838" cy="3569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1475" y="4140398"/>
            <a:ext cx="589642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candidate period is compared against the immediately preceding seven-day baseline window.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49732" y="1807270"/>
            <a:ext cx="241790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49732" y="1999952"/>
            <a:ext cx="5286838" cy="127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3" name="Text 10"/>
          <p:cNvSpPr/>
          <p:nvPr/>
        </p:nvSpPr>
        <p:spPr>
          <a:xfrm>
            <a:off x="6249732" y="2085777"/>
            <a:ext cx="52868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Price Drops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49732" y="2352080"/>
            <a:ext cx="5286838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daily unit price series for seven-day windows with the largest sustained price reductions vs prior seven days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49732" y="2837359"/>
            <a:ext cx="241790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49732" y="3018036"/>
            <a:ext cx="5286838" cy="127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7" name="Text 14"/>
          <p:cNvSpPr/>
          <p:nvPr/>
        </p:nvSpPr>
        <p:spPr>
          <a:xfrm>
            <a:off x="6249732" y="3115866"/>
            <a:ext cx="52868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Define Baseline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249732" y="3382169"/>
            <a:ext cx="528683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immediately preceding seven-day window as the comparison period for price and quantity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249732" y="3708797"/>
            <a:ext cx="241790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49732" y="3877370"/>
            <a:ext cx="5286838" cy="127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21" name="Text 18"/>
          <p:cNvSpPr/>
          <p:nvPr/>
        </p:nvSpPr>
        <p:spPr>
          <a:xfrm>
            <a:off x="6249732" y="3987304"/>
            <a:ext cx="52868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Calculate PED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49732" y="4253607"/>
            <a:ext cx="528683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arc elasticity: % change in quantity ÷ % change in price across the two windows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49732" y="4580235"/>
            <a:ext cx="241790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49732" y="4736802"/>
            <a:ext cx="5286838" cy="1270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25" name="Text 22"/>
          <p:cNvSpPr/>
          <p:nvPr/>
        </p:nvSpPr>
        <p:spPr>
          <a:xfrm>
            <a:off x="6249732" y="4858742"/>
            <a:ext cx="52868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Assess Economics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249732" y="5125045"/>
            <a:ext cx="528683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gross margin, gross profit/unit, and total gross profit for both windows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49732" y="5413177"/>
            <a:ext cx="5286838" cy="675382"/>
          </a:xfrm>
          <a:prstGeom prst="roundRect">
            <a:avLst>
              <a:gd name="adj" fmla="val 2686"/>
            </a:avLst>
          </a:prstGeom>
          <a:solidFill>
            <a:srgbClr val="4B3F02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577" y="5529163"/>
            <a:ext cx="151106" cy="1208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642529" y="5561112"/>
            <a:ext cx="4773195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Inferred promotions cannot confirm causality. A price drop may reflect other factors. Separate confirmed promotion dates should be added to the source data for rigorous future analysis.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225"/>
            <a:ext cx="1083938" cy="131266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66" y="556121"/>
            <a:ext cx="1589941" cy="79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ELASTICITY OF DEMAND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677267"/>
            <a:ext cx="1086874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Price Cuts of ~17% Triggered Volume Surges of 125%–378% — But Every Candidate Period Lost Money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06376"/>
            <a:ext cx="7064595" cy="39577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047853"/>
            <a:ext cx="5329005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Candidate Period Detail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5227141"/>
          <a:ext cx="5329005" cy="661574"/>
        </p:xfrm>
        <a:graphic>
          <a:graphicData uri="http://schemas.openxmlformats.org/drawingml/2006/table">
            <a:tbl>
              <a:tblPr/>
              <a:tblGrid>
                <a:gridCol w="1492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9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3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Period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Price Δ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Qty Δ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Promo Margin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20–26 Jan 2016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-16.29%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+125.37%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-7.70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-9.17%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24–30 May 2016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-18.39%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+377.77%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-20.55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-5.99%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10–16 Aug 2016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-17.83%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+304.39%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-17.07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-4.88%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07565" y="5047853"/>
            <a:ext cx="5329005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Prior-Week Comparison</a:t>
            </a:r>
            <a:endParaRPr lang="en-US" sz="8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07565" y="5227141"/>
          <a:ext cx="5329006" cy="661574"/>
        </p:xfrm>
        <a:graphic>
          <a:graphicData uri="http://schemas.openxmlformats.org/drawingml/2006/table">
            <a:tbl>
              <a:tblPr/>
              <a:tblGrid>
                <a:gridCol w="2131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Period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Prior Margin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GP/Unit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Jan 2016 candidate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+7.17%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-R3.16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May 2016 candidate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+13.28%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-R2.06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Aug 2016 candidate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+13.92%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E5E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-R1.68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86388" marR="86388" marT="6350" marB="6350" anchor="ctr">
                    <a:lnL w="12700" cap="flat" cmpd="sng" algn="ctr">
                      <a:solidFill>
                        <a:srgbClr val="20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5B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207565" y="5945783"/>
            <a:ext cx="5329005" cy="201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all three cases, the prior week was </a:t>
            </a:r>
            <a:r>
              <a:rPr lang="en-US" sz="6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profitable</a:t>
            </a:r>
            <a:r>
              <a:rPr lang="en-US" sz="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candidate promotion week was </a:t>
            </a:r>
            <a:r>
              <a:rPr lang="en-US" sz="6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loss-making</a:t>
            </a:r>
            <a:r>
              <a:rPr lang="en-US" sz="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business appears to trade margin for volume.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356682" y="6227068"/>
            <a:ext cx="11478330" cy="1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6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 · Promotion periods are analytically identified candidates, not confirmed promotion events.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5211"/>
            <a:ext cx="1567319" cy="20111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848" y="774898"/>
            <a:ext cx="201815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PRICE-TO-PROFIT STORY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73336"/>
            <a:ext cx="10868745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Business Trades Margin for Volume — and the Trade Is Currently Losing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43311"/>
            <a:ext cx="3691044" cy="3691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523" y="205045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Core Tension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523" y="2349698"/>
            <a:ext cx="5273047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 reveals a clear and consistent pattern across all three candidate promotion periods: when price falls by approximately 16–18%, quantity sold surges by 125–378%. The product is </a:t>
            </a:r>
            <a:r>
              <a:rPr lang="en-US" sz="10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highly price-elastic</a:t>
            </a: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However, the lower price point sits below the cost-recovery threshold. Every candidate promotion period generates a </a:t>
            </a:r>
            <a:r>
              <a:rPr lang="en-US" sz="10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negative gross margin</a:t>
            </a: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while the preceding weeks — at higher prices — were profitable.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63523" y="360551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Paradox of 2015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63523" y="3904754"/>
            <a:ext cx="5273047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2015 demonstrates that higher prices alone are not sufficient. Despite the highest annual weighted unit price (R37.33), 2015 produced the worst gross margin (-6.09%) and the largest annual loss (-R3.90m). This suggests significant intra-year price volatility — periods of high price mixed with deep discounting — that averaged out to a misleadingly moderate annual figure.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63523" y="489723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63523" y="5196483"/>
            <a:ext cx="527304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best margin day on record (11 Jul 2016, +14.42% at R42.05/unit) proves the product </a:t>
            </a:r>
            <a:r>
              <a:rPr lang="en-US" sz="10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</a:t>
            </a: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 profitable. The analytical challenge is identifying the price-volume zone where incremental volume still covers cost — and building a pricing strategy around that zone.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6682" y="5942806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7584"/>
            <a:ext cx="785694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5093" y="864394"/>
            <a:ext cx="124804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FINDINGS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04606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Seven Findings That Define the Business Problem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1475" y="1549797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707561" y="1572865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17661" y="1591965"/>
            <a:ext cx="1051255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Scale without profit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7661" y="1831777"/>
            <a:ext cx="1051255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5.28m units sold and R186.9m in revenue across 1,053 days — yet cost of sales exceeded revenue by R7.1m, producing an overall gross margin of -3.81%.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1475" y="2153543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707561" y="2176611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17661" y="2195711"/>
            <a:ext cx="1051255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 is price-cost economics, not demand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7661" y="2435523"/>
            <a:ext cx="1051255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respond strongly to this product. The issue is that the price at which volume is generated does not cover the cost of delivering 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1475" y="2757289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4" name="Text 12"/>
          <p:cNvSpPr/>
          <p:nvPr/>
        </p:nvSpPr>
        <p:spPr>
          <a:xfrm>
            <a:off x="707561" y="2780357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17661" y="2799457"/>
            <a:ext cx="1051255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Promotional pricing is highly effective for volume — and destructive for margin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7661" y="3039269"/>
            <a:ext cx="1051255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Candidate promotion periods produced 125%–378% quantity increases after 16%–18% price reductions (PED: -7.70 to -20.55). All three candidate periods were loss-making; all three prior weeks were profitable.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1475" y="3523159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8" name="Text 16"/>
          <p:cNvSpPr/>
          <p:nvPr/>
        </p:nvSpPr>
        <p:spPr>
          <a:xfrm>
            <a:off x="707561" y="3546227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17661" y="3565327"/>
            <a:ext cx="1051255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Higher price does not guarantee profitability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7661" y="3805138"/>
            <a:ext cx="1051255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2015 had the highest annual unit price (R37.33) but the worst gross margin (-6.09%) and the largest annual loss (-R3.90m), indicating significant intra-year pricing volatility.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1475" y="4126905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22" name="Text 20"/>
          <p:cNvSpPr/>
          <p:nvPr/>
        </p:nvSpPr>
        <p:spPr>
          <a:xfrm>
            <a:off x="707561" y="4149973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17661" y="4169073"/>
            <a:ext cx="1051255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profitable price zone exists but is not sustained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7661" y="4408884"/>
            <a:ext cx="1051255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best margin day (11 Jul 2016, +14.42% at R42.05/unit) proves profitability is achievable. The challenge is sustaining it at meaningful volume.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1475" y="4730651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26" name="Text 24"/>
          <p:cNvSpPr/>
          <p:nvPr/>
        </p:nvSpPr>
        <p:spPr>
          <a:xfrm>
            <a:off x="707561" y="4753719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17661" y="4772819"/>
            <a:ext cx="1051255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2016 shows early signs of improvement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7661" y="5012630"/>
            <a:ext cx="1051255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Gross margin improved to -2.00% in 2016 — the best annual margin on record — suggesting the pricing strategy may be moving in the right direction, albeit still loss-making.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1475" y="5334397"/>
            <a:ext cx="276417" cy="2764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30" name="Text 28"/>
          <p:cNvSpPr/>
          <p:nvPr/>
        </p:nvSpPr>
        <p:spPr>
          <a:xfrm>
            <a:off x="707561" y="5357465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017661" y="5376565"/>
            <a:ext cx="1051255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Promotion identification requires better 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7661" y="5616377"/>
            <a:ext cx="1051255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absence of a promotion flag in the source data limits causal analysis. All promotion findings are analytical hypotheses based on price-drop patterns, not confirmed promotion events.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6682" y="5868293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186"/>
            <a:ext cx="1203593" cy="180777"/>
          </a:xfrm>
          <a:prstGeom prst="roundRect">
            <a:avLst>
              <a:gd name="adj" fmla="val 7901"/>
            </a:avLst>
          </a:prstGeom>
          <a:solidFill>
            <a:srgbClr val="0825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11" y="577949"/>
            <a:ext cx="95148" cy="951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5484" y="570805"/>
            <a:ext cx="1527831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45927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Six Actions to Move From Volume-Led Losses to Margin-Aware Growth</a:t>
            </a:r>
            <a:endParaRPr lang="en-US" sz="2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14450"/>
            <a:ext cx="5289219" cy="11475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16790" y="1394023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93135" y="1759049"/>
            <a:ext cx="502589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Redefine Promotion Success Metrics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93135" y="2019995"/>
            <a:ext cx="5025899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evaluating promotions on volume or sales alone. Include gross profit and gross profit per unit as mandatory guardrails in every promotion review.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36924"/>
            <a:ext cx="5289219" cy="11475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16790" y="2616498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93135" y="2981523"/>
            <a:ext cx="502589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Establish a Minimum Viable Unit Price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93135" y="3242469"/>
            <a:ext cx="5025899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the minimum unit price required to cover cost of sales plus a target gross margin. Use this as a hard floor for any promotional or discounting decision.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59398"/>
            <a:ext cx="5289219" cy="13027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16790" y="3838972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93135" y="4203998"/>
            <a:ext cx="502589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Smaller Discounts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793135" y="4464943"/>
            <a:ext cx="5025899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current data shows 16–18% price reductions. Test smaller discounts (e.g. 5–10%) and measure incremental units versus incremental gross profit to find the optimal price-volume trade-off.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351" y="1314450"/>
            <a:ext cx="5289219" cy="11475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02666" y="1394023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379011" y="1759049"/>
            <a:ext cx="502589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 a Promotion Flag to Source Data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6379011" y="2019995"/>
            <a:ext cx="5025899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confirmed promotion dates from normal trading dates in the source dataset. This is the single most important data quality improvement to enable rigorous future analysis.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351" y="2536924"/>
            <a:ext cx="5289219" cy="114756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802666" y="2616498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6379011" y="2981523"/>
            <a:ext cx="502589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 a Promotion Test Framework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6379011" y="3242469"/>
            <a:ext cx="5025899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structured pre-period, promo-period, and post-period comparisons for every future promotion. This enables causal inference rather than analytical hypothesis.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351" y="3759398"/>
            <a:ext cx="5289219" cy="114756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802666" y="3838972"/>
            <a:ext cx="178490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6379011" y="4203998"/>
            <a:ext cx="502589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 a Unified KPI Dashboard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6379011" y="4464943"/>
            <a:ext cx="5025899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price, quantity, revenue, gross profit, gross margin %, and gross profit per unit together — not in isolation. No single metric tells the full story.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661475" y="5260280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775" y="5374184"/>
            <a:ext cx="10881445" cy="56673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05835" y="5386884"/>
            <a:ext cx="1072438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Calculation Definitions</a:t>
            </a:r>
            <a:endParaRPr lang="en-US" sz="1150" dirty="0"/>
          </a:p>
        </p:txBody>
      </p:sp>
      <p:sp>
        <p:nvSpPr>
          <p:cNvPr id="33" name="Text 23"/>
          <p:cNvSpPr/>
          <p:nvPr/>
        </p:nvSpPr>
        <p:spPr>
          <a:xfrm>
            <a:off x="805835" y="5617865"/>
            <a:ext cx="10724386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Daily Sales Price per Unit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Sales ÷ Quantity Sold · </a:t>
            </a:r>
            <a:r>
              <a:rPr lang="en-US" sz="9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Average Unit Sales Price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Total Sales ÷ Total Quantity Sold (weighted average) · </a:t>
            </a:r>
            <a:r>
              <a:rPr lang="en-US" sz="9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Gross Profit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Sales − Cost of Sales · </a:t>
            </a:r>
            <a:r>
              <a:rPr lang="en-US" sz="9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Daily % Gross Profit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Gross Profit ÷ Sales · </a:t>
            </a:r>
            <a:r>
              <a:rPr lang="en-US" sz="9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Gross Profit per Unit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Gross Profit ÷ Quantity Sold · </a:t>
            </a:r>
            <a:r>
              <a:rPr lang="en-US" sz="9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Price Elasticity of Demand</a:t>
            </a:r>
            <a:r>
              <a:rPr 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% Δ Quantity Sold ÷ % Δ Price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661475" y="6012458"/>
            <a:ext cx="10868745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Sales Case Study.xlsx · Dataset: 1,053 daily records, 30 Dec 2013 – 16 Nov 2016 · Promotion periods are analytically identified candidates, not confirmed promotion events · Analysis prepared for Data Analyst portfolio.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1837</Words>
  <Application>Microsoft Office PowerPoint</Application>
  <PresentationFormat>Widescreen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Roboto Slab Light</vt:lpstr>
      <vt:lpstr>Roboto Slab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Treasury National Office</dc:creator>
  <cp:lastModifiedBy>Treasury National Office</cp:lastModifiedBy>
  <cp:revision>1</cp:revision>
  <dcterms:created xsi:type="dcterms:W3CDTF">2026-09-07T12:51:04Z</dcterms:created>
  <dcterms:modified xsi:type="dcterms:W3CDTF">2026-09-07T12:52:08Z</dcterms:modified>
</cp:coreProperties>
</file>